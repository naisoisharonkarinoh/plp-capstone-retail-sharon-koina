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6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380" y="36"/>
      </p:cViewPr>
      <p:guideLst>
        <p:guide orient="horz" pos="13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E5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371600"/>
            <a:ext cx="1051560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Large-Scale Supermarket Sales</a:t>
            </a:r>
            <a:br/>
            <a:r>
              <a:t>and Customer Behaviour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79476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Data Analytics Capstone Project</a:t>
            </a:r>
            <a:br/>
            <a:r>
              <a:t>Sharon Naisoi Koina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8978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DCE6EE"/>
                </a:solidFill>
              </a:defRPr>
            </a:pPr>
            <a:r>
              <a:t>Educational analysis using synthetic supermarket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E78"/>
                </a:solidFill>
              </a:defRPr>
            </a:pPr>
            <a:r>
              <a:t>Power Learn Project | Data Analytics Capstone • 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E58"/>
                </a:solidFill>
              </a:defRPr>
            </a:pPr>
            <a:r>
              <a:t>1. Business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8"/>
                </a:solidFill>
              </a:defRPr>
            </a:pPr>
            <a:r>
              <a:t>Why analyse supermarket sales?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283038"/>
                </a:solidFill>
              </a:defRPr>
            </a:pPr>
            <a:r>
              <a:t>Retail managers need clear information about revenue, branches, products, and customer spending.</a:t>
            </a:r>
          </a:p>
          <a:p>
            <a:pPr>
              <a:spcAft>
                <a:spcPts val="1400"/>
              </a:spcAft>
              <a:defRPr sz="2100">
                <a:solidFill>
                  <a:srgbClr val="283038"/>
                </a:solidFill>
              </a:defRPr>
            </a:pPr>
            <a:r>
              <a:t>Without organized analysis, comparing performance and planning inventory or promotions can be difficult.</a:t>
            </a:r>
          </a:p>
          <a:p>
            <a:pPr>
              <a:spcAft>
                <a:spcPts val="1400"/>
              </a:spcAft>
              <a:defRPr sz="2100">
                <a:solidFill>
                  <a:srgbClr val="283038"/>
                </a:solidFill>
              </a:defRPr>
            </a:pPr>
            <a:r>
              <a:t>This project demonstrates how Python and SQL can turn transaction records into useful summaries.</a:t>
            </a:r>
          </a:p>
          <a:p>
            <a:pPr>
              <a:spcAft>
                <a:spcPts val="1400"/>
              </a:spcAft>
              <a:defRPr sz="2100">
                <a:solidFill>
                  <a:srgbClr val="283038"/>
                </a:solidFill>
              </a:defRPr>
            </a:pPr>
            <a:r>
              <a:t>Goal: provide evidence-informed recommendations while recognizing the limits of synthetic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E78"/>
                </a:solidFill>
              </a:defRPr>
            </a:pPr>
            <a:r>
              <a:t>Power Learn Project | Data Analytics Capstone •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E58"/>
                </a:solidFill>
              </a:defRPr>
            </a:pPr>
            <a:r>
              <a:t>2. Dataset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8"/>
                </a:solidFill>
              </a:defRPr>
            </a:pPr>
            <a:r>
              <a:t>Four related CSV files stored in the project data/ folder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2423160" cy="1508760"/>
          </a:xfrm>
          <a:prstGeom prst="roundRect">
            <a:avLst/>
          </a:prstGeom>
          <a:solidFill>
            <a:srgbClr val="EBF2F7"/>
          </a:solidFill>
          <a:ln>
            <a:solidFill>
              <a:srgbClr val="36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1F3E58"/>
                </a:solidFill>
              </a:defRPr>
            </a:pPr>
            <a:r>
              <a:t>50,000</a:t>
            </a:r>
          </a:p>
          <a:p>
            <a:pPr algn="ctr">
              <a:defRPr sz="1500">
                <a:solidFill>
                  <a:srgbClr val="283038"/>
                </a:solidFill>
              </a:defRPr>
            </a:pPr>
            <a:r>
              <a:t>transactions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80" y="1920240"/>
            <a:ext cx="2423160" cy="1508760"/>
          </a:xfrm>
          <a:prstGeom prst="roundRect">
            <a:avLst/>
          </a:prstGeom>
          <a:solidFill>
            <a:srgbClr val="EBF2F7"/>
          </a:solidFill>
          <a:ln>
            <a:solidFill>
              <a:srgbClr val="36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1F3E58"/>
                </a:solidFill>
              </a:defRPr>
            </a:pPr>
            <a:r>
              <a:t>20</a:t>
            </a:r>
          </a:p>
          <a:p>
            <a:pPr algn="ctr">
              <a:defRPr sz="1500">
                <a:solidFill>
                  <a:srgbClr val="283038"/>
                </a:solidFill>
              </a:defRPr>
            </a:pPr>
            <a:r>
              <a:t>products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920240"/>
            <a:ext cx="2423160" cy="1508760"/>
          </a:xfrm>
          <a:prstGeom prst="roundRect">
            <a:avLst/>
          </a:prstGeom>
          <a:solidFill>
            <a:srgbClr val="EBF2F7"/>
          </a:solidFill>
          <a:ln>
            <a:solidFill>
              <a:srgbClr val="36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1F3E58"/>
                </a:solidFill>
              </a:defRPr>
            </a:pPr>
            <a:r>
              <a:t>5</a:t>
            </a:r>
          </a:p>
          <a:p>
            <a:pPr algn="ctr">
              <a:defRPr sz="1500">
                <a:solidFill>
                  <a:srgbClr val="283038"/>
                </a:solidFill>
              </a:defRPr>
            </a:pPr>
            <a:r>
              <a:t>branches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72600" y="1920240"/>
            <a:ext cx="2423160" cy="1508760"/>
          </a:xfrm>
          <a:prstGeom prst="roundRect">
            <a:avLst/>
          </a:prstGeom>
          <a:solidFill>
            <a:srgbClr val="EBF2F7"/>
          </a:solidFill>
          <a:ln>
            <a:solidFill>
              <a:srgbClr val="36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1F3E58"/>
                </a:solidFill>
              </a:defRPr>
            </a:pPr>
            <a:r>
              <a:t>5,000</a:t>
            </a:r>
          </a:p>
          <a:p>
            <a:pPr algn="ctr">
              <a:defRPr sz="1500">
                <a:solidFill>
                  <a:srgbClr val="283038"/>
                </a:solidFill>
              </a:defRPr>
            </a:pPr>
            <a:r>
              <a:t>customer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83038"/>
                </a:solidFill>
              </a:defRPr>
            </a:pPr>
            <a:r>
              <a:t>The data is synthetic and was created for learning and demonstration.</a:t>
            </a:r>
          </a:p>
          <a:p>
            <a:pPr>
              <a:spcAft>
                <a:spcPts val="1400"/>
              </a:spcAft>
              <a:defRPr sz="1800">
                <a:solidFill>
                  <a:srgbClr val="283038"/>
                </a:solidFill>
              </a:defRPr>
            </a:pPr>
            <a:r>
              <a:t>It does not represent actual supermarket revenue or real customer behaviour.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E78"/>
                </a:solidFill>
              </a:defRPr>
            </a:pPr>
            <a:r>
              <a:t>Power Learn Project | Data Analytics Capstone •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E58"/>
                </a:solidFill>
              </a:defRPr>
            </a:pPr>
            <a:r>
              <a:t>3. Data Cleaning and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283038"/>
                </a:solidFill>
              </a:defRPr>
            </a:pPr>
            <a:r>
              <a:t>Reviewed data quality across completeness, validity, uniqueness, consistency, accuracy, and integrity.</a:t>
            </a:r>
          </a:p>
          <a:p>
            <a:pPr>
              <a:spcAft>
                <a:spcPts val="1400"/>
              </a:spcAft>
              <a:defRPr sz="1900">
                <a:solidFill>
                  <a:srgbClr val="283038"/>
                </a:solidFill>
              </a:defRPr>
            </a:pPr>
            <a:r>
              <a:t>Checked duplicate transaction IDs and missing essential values.</a:t>
            </a:r>
          </a:p>
          <a:p>
            <a:pPr>
              <a:spcAft>
                <a:spcPts val="1400"/>
              </a:spcAft>
              <a:defRPr sz="1900">
                <a:solidFill>
                  <a:srgbClr val="283038"/>
                </a:solidFill>
              </a:defRPr>
            </a:pPr>
            <a:r>
              <a:t>Converted transaction dates to a date format and filtered invalid quantities or prices.</a:t>
            </a:r>
          </a:p>
          <a:p>
            <a:pPr>
              <a:spcAft>
                <a:spcPts val="1400"/>
              </a:spcAft>
              <a:defRPr sz="1900">
                <a:solidFill>
                  <a:srgbClr val="283038"/>
                </a:solidFill>
              </a:defRPr>
            </a:pPr>
            <a:r>
              <a:t>Recalculated sales amount from quantity × unit price.</a:t>
            </a:r>
          </a:p>
          <a:p>
            <a:pPr>
              <a:spcAft>
                <a:spcPts val="1400"/>
              </a:spcAft>
              <a:defRPr sz="1900">
                <a:solidFill>
                  <a:srgbClr val="283038"/>
                </a:solidFill>
              </a:defRPr>
            </a:pPr>
            <a:r>
              <a:t>Loaded data into SQLite to support SQL-based analysis.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E78"/>
                </a:solidFill>
              </a:defRPr>
            </a:pPr>
            <a:r>
              <a:t>Power Learn Project | Data Analytics Capstone •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E58"/>
                </a:solidFill>
              </a:defRPr>
            </a:pPr>
            <a:r>
              <a:t>4. Tools and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83038"/>
                </a:solidFill>
              </a:defRPr>
            </a:pPr>
            <a:r>
              <a:t>Python and pandas — loading, cleaning, grouping, and summarizing data.</a:t>
            </a:r>
          </a:p>
          <a:p>
            <a:pPr>
              <a:spcAft>
                <a:spcPts val="1400"/>
              </a:spcAft>
              <a:defRPr sz="2000">
                <a:solidFill>
                  <a:srgbClr val="283038"/>
                </a:solidFill>
              </a:defRPr>
            </a:pPr>
            <a:r>
              <a:t>NumPy — numerical operations.</a:t>
            </a:r>
          </a:p>
          <a:p>
            <a:pPr>
              <a:spcAft>
                <a:spcPts val="1400"/>
              </a:spcAft>
              <a:defRPr sz="2000">
                <a:solidFill>
                  <a:srgbClr val="283038"/>
                </a:solidFill>
              </a:defRPr>
            </a:pPr>
            <a:r>
              <a:t>SQLite and SQL — joins, grouping, HAVING, and window functions.</a:t>
            </a:r>
          </a:p>
          <a:p>
            <a:pPr>
              <a:spcAft>
                <a:spcPts val="1400"/>
              </a:spcAft>
              <a:defRPr sz="2000">
                <a:solidFill>
                  <a:srgbClr val="283038"/>
                </a:solidFill>
              </a:defRPr>
            </a:pPr>
            <a:r>
              <a:t>Matplotlib — charts for branch, product, and time-based comparisons.</a:t>
            </a:r>
          </a:p>
          <a:p>
            <a:pPr>
              <a:spcAft>
                <a:spcPts val="1400"/>
              </a:spcAft>
              <a:defRPr sz="2000">
                <a:solidFill>
                  <a:srgbClr val="283038"/>
                </a:solidFill>
              </a:defRPr>
            </a:pPr>
            <a:r>
              <a:t>SciPy — Welch independent two-sample t-test comparing Nairobi and Mombasa transaction values.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E78"/>
                </a:solidFill>
              </a:defRPr>
            </a:pPr>
            <a:r>
              <a:t>Power Learn Project | Data Analytics Capstone • 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E58"/>
                </a:solidFill>
              </a:defRPr>
            </a:pPr>
            <a:r>
              <a:t>5. Overall Sales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8"/>
                </a:solidFill>
              </a:defRPr>
            </a:pPr>
            <a:r>
              <a:t>Results transcribed from the 02_eda.ipynb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937760" cy="1463040"/>
          </a:xfrm>
          <a:prstGeom prst="roundRect">
            <a:avLst/>
          </a:prstGeom>
          <a:solidFill>
            <a:srgbClr val="EBF2F7"/>
          </a:solidFill>
          <a:ln>
            <a:solidFill>
              <a:srgbClr val="36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F3E58"/>
                </a:solidFill>
              </a:defRPr>
            </a:pPr>
            <a:r>
              <a:t>KES 38,292,565</a:t>
            </a:r>
          </a:p>
          <a:p>
            <a:pPr algn="ctr">
              <a:defRPr sz="1500">
                <a:solidFill>
                  <a:srgbClr val="283038"/>
                </a:solidFill>
              </a:defRPr>
            </a:pPr>
            <a:r>
              <a:t>Total revenue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59" y="1645920"/>
            <a:ext cx="4937760" cy="1463040"/>
          </a:xfrm>
          <a:prstGeom prst="roundRect">
            <a:avLst/>
          </a:prstGeom>
          <a:solidFill>
            <a:srgbClr val="EBF2F7"/>
          </a:solidFill>
          <a:ln>
            <a:solidFill>
              <a:srgbClr val="36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F3E58"/>
                </a:solidFill>
              </a:defRPr>
            </a:pPr>
            <a:r>
              <a:t>50,000</a:t>
            </a:r>
          </a:p>
          <a:p>
            <a:pPr algn="ctr">
              <a:defRPr sz="1500">
                <a:solidFill>
                  <a:srgbClr val="283038"/>
                </a:solidFill>
              </a:defRPr>
            </a:pPr>
            <a:r>
              <a:t>Transactions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57600"/>
            <a:ext cx="4937760" cy="1463040"/>
          </a:xfrm>
          <a:prstGeom prst="roundRect">
            <a:avLst/>
          </a:prstGeom>
          <a:solidFill>
            <a:srgbClr val="EBF2F7"/>
          </a:solidFill>
          <a:ln>
            <a:solidFill>
              <a:srgbClr val="36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F3E58"/>
                </a:solidFill>
              </a:defRPr>
            </a:pPr>
            <a:r>
              <a:t>274,143</a:t>
            </a:r>
          </a:p>
          <a:p>
            <a:pPr algn="ctr">
              <a:defRPr sz="1500">
                <a:solidFill>
                  <a:srgbClr val="283038"/>
                </a:solidFill>
              </a:defRPr>
            </a:pPr>
            <a:r>
              <a:t>Units sold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3657600"/>
            <a:ext cx="4937760" cy="1463040"/>
          </a:xfrm>
          <a:prstGeom prst="roundRect">
            <a:avLst/>
          </a:prstGeom>
          <a:solidFill>
            <a:srgbClr val="EBF2F7"/>
          </a:solidFill>
          <a:ln>
            <a:solidFill>
              <a:srgbClr val="36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F3E58"/>
                </a:solidFill>
              </a:defRPr>
            </a:pPr>
            <a:r>
              <a:t>KES 765.85</a:t>
            </a:r>
          </a:p>
          <a:p>
            <a:pPr algn="ctr">
              <a:defRPr sz="1500">
                <a:solidFill>
                  <a:srgbClr val="283038"/>
                </a:solidFill>
              </a:defRPr>
            </a:pPr>
            <a:r>
              <a:t>Average transaction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E78"/>
                </a:solidFill>
              </a:defRPr>
            </a:pPr>
            <a:r>
              <a:t>Power Learn Project | Data Analytics Capstone • 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E58"/>
                </a:solidFill>
              </a:defRPr>
            </a:pPr>
            <a:r>
              <a:t>6. Branch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8"/>
                </a:solidFill>
              </a:defRPr>
            </a:pPr>
            <a:r>
              <a:t>Revenue is relatively similar across the five synthetic branches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83038"/>
                </a:solidFill>
              </a:defRPr>
            </a:pPr>
            <a:r>
              <a:t>Kisumu</a:t>
            </a:r>
          </a:p>
        </p:txBody>
      </p:sp>
      <p:sp>
        <p:nvSpPr>
          <p:cNvPr id="5" name="Rectangle 4"/>
          <p:cNvSpPr/>
          <p:nvPr/>
        </p:nvSpPr>
        <p:spPr>
          <a:xfrm>
            <a:off x="2103120" y="1600200"/>
            <a:ext cx="7040880" cy="384048"/>
          </a:xfrm>
          <a:prstGeom prst="rect">
            <a:avLst/>
          </a:prstGeom>
          <a:solidFill>
            <a:srgbClr val="366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81160" y="16002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83038"/>
                </a:solidFill>
              </a:defRPr>
            </a:pPr>
            <a:r>
              <a:t>7,756,715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86584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83038"/>
                </a:solidFill>
              </a:defRPr>
            </a:pPr>
            <a:r>
              <a:t>Nakuru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2386584"/>
            <a:ext cx="6977703" cy="384048"/>
          </a:xfrm>
          <a:prstGeom prst="rect">
            <a:avLst/>
          </a:prstGeom>
          <a:solidFill>
            <a:srgbClr val="366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17983" y="2386584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83038"/>
                </a:solidFill>
              </a:defRPr>
            </a:pPr>
            <a:r>
              <a:t>7,687,115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72968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83038"/>
                </a:solidFill>
              </a:defRPr>
            </a:pPr>
            <a:r>
              <a:t>Mombasa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3172968"/>
            <a:ext cx="6962067" cy="384048"/>
          </a:xfrm>
          <a:prstGeom prst="rect">
            <a:avLst/>
          </a:prstGeom>
          <a:solidFill>
            <a:srgbClr val="366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02347" y="317296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83038"/>
                </a:solidFill>
              </a:defRPr>
            </a:pPr>
            <a:r>
              <a:t>7,669,890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59352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83038"/>
                </a:solidFill>
              </a:defRPr>
            </a:pPr>
            <a:r>
              <a:t>Nairobi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3959352"/>
            <a:ext cx="6932866" cy="384048"/>
          </a:xfrm>
          <a:prstGeom prst="rect">
            <a:avLst/>
          </a:prstGeom>
          <a:solidFill>
            <a:srgbClr val="366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73146" y="3959352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83038"/>
                </a:solidFill>
              </a:defRPr>
            </a:pPr>
            <a:r>
              <a:t>7,637,720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745736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83038"/>
                </a:solidFill>
              </a:defRPr>
            </a:pPr>
            <a:r>
              <a:t>Eldoret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4745736"/>
            <a:ext cx="6845185" cy="384048"/>
          </a:xfrm>
          <a:prstGeom prst="rect">
            <a:avLst/>
          </a:prstGeom>
          <a:solidFill>
            <a:srgbClr val="366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5465" y="4745736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83038"/>
                </a:solidFill>
              </a:defRPr>
            </a:pPr>
            <a:r>
              <a:t>7,541,125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5778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>
                <a:solidFill>
                  <a:srgbClr val="283038"/>
                </a:solidFill>
              </a:defRPr>
            </a:pPr>
            <a:r>
              <a:t>Highest: Kisumu (KES 7,756,715). Lowest: Eldoret (KES 7,541,125).</a:t>
            </a:r>
          </a:p>
          <a:p>
            <a:pPr>
              <a:spcAft>
                <a:spcPts val="1400"/>
              </a:spcAft>
              <a:defRPr sz="1300">
                <a:solidFill>
                  <a:srgbClr val="283038"/>
                </a:solidFill>
              </a:defRPr>
            </a:pPr>
            <a:r>
              <a:t>Difference: KES 215,590; interpret cautiously because the dataset is synthetic.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E78"/>
                </a:solidFill>
              </a:defRPr>
            </a:pPr>
            <a:r>
              <a:t>Power Learn Project | Data Analytics Capstone •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E58"/>
                </a:solidFill>
              </a:defRPr>
            </a:pPr>
            <a:r>
              <a:t>7. Top Products by Revenue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8"/>
                </a:solidFill>
              </a:defRPr>
            </a:pPr>
            <a:r>
              <a:t>Top 10 products reported by the exploratory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83038"/>
                </a:solidFill>
              </a:defRPr>
            </a:pPr>
            <a:r>
              <a:t>Cooking Oil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0" y="1417320"/>
            <a:ext cx="4937760" cy="237744"/>
          </a:xfrm>
          <a:prstGeom prst="rect">
            <a:avLst/>
          </a:prstGeom>
          <a:solidFill>
            <a:srgbClr val="366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35240" y="1399032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83038"/>
                </a:solidFill>
              </a:defRPr>
            </a:pPr>
            <a:r>
              <a:t>4,650,450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5623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83038"/>
                </a:solidFill>
              </a:defRPr>
            </a:pPr>
            <a:r>
              <a:t>Coffee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1856232"/>
            <a:ext cx="4425716" cy="237744"/>
          </a:xfrm>
          <a:prstGeom prst="rect">
            <a:avLst/>
          </a:prstGeom>
          <a:solidFill>
            <a:srgbClr val="366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23196" y="1837944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83038"/>
                </a:solidFill>
              </a:defRPr>
            </a:pPr>
            <a:r>
              <a:t>4,168,200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95144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83038"/>
                </a:solidFill>
              </a:defRPr>
            </a:pPr>
            <a:r>
              <a:t>Detergent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2295144"/>
            <a:ext cx="3652527" cy="237744"/>
          </a:xfrm>
          <a:prstGeom prst="rect">
            <a:avLst/>
          </a:prstGeom>
          <a:solidFill>
            <a:srgbClr val="366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50007" y="2276856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83038"/>
                </a:solidFill>
              </a:defRPr>
            </a:pPr>
            <a:r>
              <a:t>3,440,000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34056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83038"/>
                </a:solidFill>
              </a:defRPr>
            </a:pPr>
            <a:r>
              <a:t>Cereal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0" y="2734056"/>
            <a:ext cx="3147883" cy="237744"/>
          </a:xfrm>
          <a:prstGeom prst="rect">
            <a:avLst/>
          </a:prstGeom>
          <a:solidFill>
            <a:srgbClr val="366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45363" y="2715768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83038"/>
                </a:solidFill>
              </a:defRPr>
            </a:pPr>
            <a:r>
              <a:t>2,964,720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17296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83038"/>
                </a:solidFill>
              </a:defRPr>
            </a:pPr>
            <a:r>
              <a:t>Rice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3172968"/>
            <a:ext cx="2642433" cy="237744"/>
          </a:xfrm>
          <a:prstGeom prst="rect">
            <a:avLst/>
          </a:prstGeom>
          <a:solidFill>
            <a:srgbClr val="366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39913" y="3154679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83038"/>
                </a:solidFill>
              </a:defRPr>
            </a:pPr>
            <a:r>
              <a:t>2,488,680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1188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83038"/>
                </a:solidFill>
              </a:defRPr>
            </a:pPr>
            <a:r>
              <a:t>Beans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3611880"/>
            <a:ext cx="2502490" cy="237744"/>
          </a:xfrm>
          <a:prstGeom prst="rect">
            <a:avLst/>
          </a:prstGeom>
          <a:solidFill>
            <a:srgbClr val="366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99970" y="3593592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83038"/>
                </a:solidFill>
              </a:defRPr>
            </a:pPr>
            <a:r>
              <a:t>2,356,880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050791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83038"/>
                </a:solidFill>
              </a:defRPr>
            </a:pPr>
            <a:r>
              <a:t>Sugar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4050791"/>
            <a:ext cx="2252504" cy="237744"/>
          </a:xfrm>
          <a:prstGeom prst="rect">
            <a:avLst/>
          </a:prstGeom>
          <a:solidFill>
            <a:srgbClr val="366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49984" y="4032504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83038"/>
                </a:solidFill>
              </a:defRPr>
            </a:pPr>
            <a:r>
              <a:t>2,121,440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489704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83038"/>
                </a:solidFill>
              </a:defRPr>
            </a:pPr>
            <a:r>
              <a:t>Wheat Flour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4489704"/>
            <a:ext cx="2243755" cy="237744"/>
          </a:xfrm>
          <a:prstGeom prst="rect">
            <a:avLst/>
          </a:prstGeom>
          <a:solidFill>
            <a:srgbClr val="366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41235" y="4471416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83038"/>
                </a:solidFill>
              </a:defRPr>
            </a:pPr>
            <a:r>
              <a:t>2,113,200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928616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83038"/>
                </a:solidFill>
              </a:defRPr>
            </a:pPr>
            <a:r>
              <a:t>Toothpaste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0" y="4928616"/>
            <a:ext cx="2209354" cy="237744"/>
          </a:xfrm>
          <a:prstGeom prst="rect">
            <a:avLst/>
          </a:prstGeom>
          <a:solidFill>
            <a:srgbClr val="366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906834" y="4910328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83038"/>
                </a:solidFill>
              </a:defRPr>
            </a:pPr>
            <a:r>
              <a:t>2,080,800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36752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83038"/>
                </a:solidFill>
              </a:defRPr>
            </a:pPr>
            <a:r>
              <a:t>Pasta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0" y="5367528"/>
            <a:ext cx="1931061" cy="237744"/>
          </a:xfrm>
          <a:prstGeom prst="rect">
            <a:avLst/>
          </a:prstGeom>
          <a:solidFill>
            <a:srgbClr val="366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28541" y="5349240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83038"/>
                </a:solidFill>
              </a:defRPr>
            </a:pPr>
            <a:r>
              <a:t>1,818,700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011680"/>
            <a:ext cx="29260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F3E58"/>
                </a:solidFill>
              </a:defRPr>
            </a:pPr>
            <a:r>
              <a:t>Key insight</a:t>
            </a:r>
          </a:p>
          <a:p>
            <a:pPr>
              <a:defRPr sz="1600">
                <a:solidFill>
                  <a:srgbClr val="283038"/>
                </a:solidFill>
              </a:defRPr>
            </a:pPr>
            <a:r>
              <a:t>Cooking Oil leads the listed products at KES 4,650,450, followed by Coffee at KES 4,168,200.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E78"/>
                </a:solidFill>
              </a:defRPr>
            </a:pPr>
            <a:r>
              <a:t>Power Learn Project | Data Analytics Capstone • 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E58"/>
                </a:solidFill>
              </a:defRPr>
            </a:pPr>
            <a:r>
              <a:t>8. Recommendations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83038"/>
                </a:solidFill>
              </a:defRPr>
            </a:pPr>
            <a:r>
              <a:t>Monitor monthly revenue and compare branch performance over time.</a:t>
            </a:r>
          </a:p>
          <a:p>
            <a:pPr>
              <a:spcAft>
                <a:spcPts val="1400"/>
              </a:spcAft>
              <a:defRPr sz="1800">
                <a:solidFill>
                  <a:srgbClr val="283038"/>
                </a:solidFill>
              </a:defRPr>
            </a:pPr>
            <a:r>
              <a:t>Use product-level results to guide further inventory and promotion analysis, not as a standalone stocking rule.</a:t>
            </a:r>
          </a:p>
          <a:p>
            <a:pPr>
              <a:spcAft>
                <a:spcPts val="1400"/>
              </a:spcAft>
              <a:defRPr sz="1800">
                <a:solidFill>
                  <a:srgbClr val="283038"/>
                </a:solidFill>
              </a:defRPr>
            </a:pPr>
            <a:r>
              <a:t>Validate patterns with real sales data before making budget or operational decisions.</a:t>
            </a:r>
          </a:p>
          <a:p>
            <a:pPr>
              <a:spcAft>
                <a:spcPts val="1400"/>
              </a:spcAft>
              <a:defRPr sz="1800">
                <a:solidFill>
                  <a:srgbClr val="283038"/>
                </a:solidFill>
              </a:defRPr>
            </a:pPr>
            <a:r>
              <a:t>Limitation: data is synthetic; observed branch and product differences are illustrative, not real-world evidence.</a:t>
            </a:r>
          </a:p>
          <a:p>
            <a:pPr>
              <a:spcAft>
                <a:spcPts val="1400"/>
              </a:spcAft>
              <a:defRPr sz="1800">
                <a:solidFill>
                  <a:srgbClr val="283038"/>
                </a:solidFill>
              </a:defRPr>
            </a:pPr>
            <a:r>
              <a:t>Statistical test: report the actual t-statistic, p-value, and interpretation from 03_analysis.ipynb before final submission.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E78"/>
                </a:solidFill>
              </a:defRPr>
            </a:pPr>
            <a:r>
              <a:t>Power Learn Project | Data Analytics Capstone •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E5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9.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2412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This project demonstrates an end-to-end analytics workflow: cleaning data, querying with SQL, exploring sales patterns, and communicating results.</a:t>
            </a:r>
          </a:p>
          <a:p>
            <a:pPr>
              <a:spcBef>
                <a:spcPts val="2000"/>
              </a:spcBef>
              <a:defRPr sz="2000">
                <a:solidFill>
                  <a:srgbClr val="DCE6EE"/>
                </a:solidFill>
              </a:defRPr>
            </a:pPr>
            <a:r>
              <a:t>The most important next step is to validate any business recommendations using real operational 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E78"/>
                </a:solidFill>
              </a:defRPr>
            </a:pPr>
            <a:r>
              <a:t>Power Learn Project | Data Analytics Capstone •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619</Words>
  <Application>Microsoft Office PowerPoint</Application>
  <PresentationFormat>Widescreen</PresentationFormat>
  <Paragraphs>101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Sharon Naisoi</cp:lastModifiedBy>
  <cp:revision>2</cp:revision>
  <dcterms:created xsi:type="dcterms:W3CDTF">2013-01-27T09:14:16Z</dcterms:created>
  <dcterms:modified xsi:type="dcterms:W3CDTF">2026-10-24T15:33:16Z</dcterms:modified>
  <cp:category/>
</cp:coreProperties>
</file>