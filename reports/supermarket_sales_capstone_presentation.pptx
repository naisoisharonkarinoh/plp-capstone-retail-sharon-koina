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136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E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Large-Scale Supermarket Sales</a:t>
            </a:r>
            <a:br/>
            <a:r>
              <a:t>and Customer Behaviour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94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Data Analytics Capstone Project</a:t>
            </a:r>
            <a:br/>
            <a:r>
              <a:t>Sharon Naisoi Koina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97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DCE6EE"/>
                </a:solidFill>
              </a:defRPr>
            </a:pPr>
            <a:r>
              <a:t>Educational analysis using synthetic supermarket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Why analyse supermarket sales?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8"/>
                </a:solidFill>
              </a:defRPr>
            </a:pPr>
            <a:r>
              <a:t>Retail managers need clear information about revenue, branches, products, and customer spending.</a:t>
            </a:r>
          </a:p>
          <a:p>
            <a:pPr>
              <a:spcAft>
                <a:spcPts val="1400"/>
              </a:spcAft>
              <a:defRPr sz="2100">
                <a:solidFill>
                  <a:srgbClr val="283038"/>
                </a:solidFill>
              </a:defRPr>
            </a:pPr>
            <a:r>
              <a:t>Without organized analysis, comparing performance and planning inventory or promotions can be difficult.</a:t>
            </a:r>
          </a:p>
          <a:p>
            <a:pPr>
              <a:spcAft>
                <a:spcPts val="1400"/>
              </a:spcAft>
              <a:defRPr sz="2100">
                <a:solidFill>
                  <a:srgbClr val="283038"/>
                </a:solidFill>
              </a:defRPr>
            </a:pPr>
            <a:r>
              <a:t>This project demonstrates how Python and SQL can turn transaction records into useful summaries.</a:t>
            </a:r>
          </a:p>
          <a:p>
            <a:pPr>
              <a:spcAft>
                <a:spcPts val="1400"/>
              </a:spcAft>
              <a:defRPr sz="2100">
                <a:solidFill>
                  <a:srgbClr val="283038"/>
                </a:solidFill>
              </a:defRPr>
            </a:pPr>
            <a:r>
              <a:t>Goal: provide evidence-informed recommendations while recognizing the limits of synthetic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Four related CSV files stored in the project data/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23160" cy="150876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E58"/>
                </a:solidFill>
              </a:defRPr>
            </a:pPr>
            <a:r>
              <a:t>50,000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920240"/>
            <a:ext cx="2423160" cy="150876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E58"/>
                </a:solidFill>
              </a:defRPr>
            </a:pPr>
            <a:r>
              <a:t>20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20240"/>
            <a:ext cx="2423160" cy="150876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E58"/>
                </a:solidFill>
              </a:defRPr>
            </a:pPr>
            <a:r>
              <a:t>5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branches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920240"/>
            <a:ext cx="2423160" cy="150876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E58"/>
                </a:solidFill>
              </a:defRPr>
            </a:pPr>
            <a:r>
              <a:t>5,000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t>The data is synthetic and was created for learning and demonstration.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t>It does not represent actual supermarket revenue or real customer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3. Data Cleaning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8"/>
                </a:solidFill>
              </a:defRPr>
            </a:pPr>
            <a:r>
              <a:t>Reviewed data quality across completeness, validity, uniqueness, consistency, accuracy, and integrity.</a:t>
            </a:r>
          </a:p>
          <a:p>
            <a:pPr>
              <a:spcAft>
                <a:spcPts val="1400"/>
              </a:spcAft>
              <a:defRPr sz="1900">
                <a:solidFill>
                  <a:srgbClr val="283038"/>
                </a:solidFill>
              </a:defRPr>
            </a:pPr>
            <a:r>
              <a:t>Checked duplicate transaction IDs and missing essential values.</a:t>
            </a:r>
          </a:p>
          <a:p>
            <a:pPr>
              <a:spcAft>
                <a:spcPts val="1400"/>
              </a:spcAft>
              <a:defRPr sz="1900">
                <a:solidFill>
                  <a:srgbClr val="283038"/>
                </a:solidFill>
              </a:defRPr>
            </a:pPr>
            <a:r>
              <a:t>Converted transaction dates to a date format and filtered invalid quantities or prices.</a:t>
            </a:r>
          </a:p>
          <a:p>
            <a:pPr>
              <a:spcAft>
                <a:spcPts val="1400"/>
              </a:spcAft>
              <a:defRPr sz="1900">
                <a:solidFill>
                  <a:srgbClr val="283038"/>
                </a:solidFill>
              </a:defRPr>
            </a:pPr>
            <a:r>
              <a:t>Recalculated sales amount from quantity × unit price.</a:t>
            </a:r>
          </a:p>
          <a:p>
            <a:pPr>
              <a:spcAft>
                <a:spcPts val="1400"/>
              </a:spcAft>
              <a:defRPr sz="1900">
                <a:solidFill>
                  <a:srgbClr val="283038"/>
                </a:solidFill>
              </a:defRPr>
            </a:pPr>
            <a:r>
              <a:t>Loaded data into SQLite to support SQL-based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4. Tools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8"/>
                </a:solidFill>
              </a:defRPr>
            </a:pPr>
            <a:r>
              <a:t>Python and pandas — loading, cleaning, grouping, and summarizing data.</a:t>
            </a:r>
          </a:p>
          <a:p>
            <a:pPr>
              <a:spcAft>
                <a:spcPts val="1400"/>
              </a:spcAft>
              <a:defRPr sz="2000">
                <a:solidFill>
                  <a:srgbClr val="283038"/>
                </a:solidFill>
              </a:defRPr>
            </a:pPr>
            <a:r>
              <a:t>NumPy — numerical operations.</a:t>
            </a:r>
          </a:p>
          <a:p>
            <a:pPr>
              <a:spcAft>
                <a:spcPts val="1400"/>
              </a:spcAft>
              <a:defRPr sz="2000">
                <a:solidFill>
                  <a:srgbClr val="283038"/>
                </a:solidFill>
              </a:defRPr>
            </a:pPr>
            <a:r>
              <a:t>SQLite and SQL — joins, grouping, HAVING, and window functions.</a:t>
            </a:r>
          </a:p>
          <a:p>
            <a:pPr>
              <a:spcAft>
                <a:spcPts val="1400"/>
              </a:spcAft>
              <a:defRPr sz="2000">
                <a:solidFill>
                  <a:srgbClr val="283038"/>
                </a:solidFill>
              </a:defRPr>
            </a:pPr>
            <a:r>
              <a:t>Matplotlib — charts for branch, product, and time-based comparisons.</a:t>
            </a:r>
          </a:p>
          <a:p>
            <a:pPr>
              <a:spcAft>
                <a:spcPts val="1400"/>
              </a:spcAft>
              <a:defRPr sz="2000">
                <a:solidFill>
                  <a:srgbClr val="283038"/>
                </a:solidFill>
              </a:defRPr>
            </a:pPr>
            <a:r>
              <a:t>SciPy — Welch independent two-sample t-test comparing Nairobi and Mombasa transaction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5. Overall Sales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Results transcribed from the 02_eda.ipynb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146304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3E58"/>
                </a:solidFill>
              </a:defRPr>
            </a:pPr>
            <a:r>
              <a:t>KES 38,292,565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Total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645920"/>
            <a:ext cx="4937760" cy="146304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3E58"/>
                </a:solidFill>
              </a:defRPr>
            </a:pPr>
            <a:r>
              <a:t>50,000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937760" cy="146304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3E58"/>
                </a:solidFill>
              </a:defRPr>
            </a:pPr>
            <a:r>
              <a:t>274,143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Units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3657600"/>
            <a:ext cx="4937760" cy="1463040"/>
          </a:xfrm>
          <a:prstGeom prst="roundRect">
            <a:avLst/>
          </a:prstGeom>
          <a:solidFill>
            <a:srgbClr val="EBF2F7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3E58"/>
                </a:solidFill>
              </a:defRPr>
            </a:pPr>
            <a:r>
              <a:t>KES 765.85</a:t>
            </a:r>
          </a:p>
          <a:p>
            <a:pPr algn="ctr">
              <a:defRPr sz="1500">
                <a:solidFill>
                  <a:srgbClr val="283038"/>
                </a:solidFill>
              </a:defRPr>
            </a:pPr>
            <a:r>
              <a:t>Average transaction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6. Branch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Revenue is relatively similar across the five synthetic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8"/>
                </a:solidFill>
              </a:defRPr>
            </a:pPr>
            <a:r>
              <a:t>Kisumu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600200"/>
            <a:ext cx="7040880" cy="384048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81160" y="16002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7,756,715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8658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8"/>
                </a:solidFill>
              </a:defRPr>
            </a:pPr>
            <a:r>
              <a:t>Nakuru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386584"/>
            <a:ext cx="6977703" cy="384048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17983" y="238658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7,687,115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7296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8"/>
                </a:solidFill>
              </a:defRPr>
            </a:pPr>
            <a:r>
              <a:t>Mombasa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3172968"/>
            <a:ext cx="6962067" cy="384048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2347" y="31729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7,669,890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8"/>
                </a:solidFill>
              </a:defRPr>
            </a:pPr>
            <a:r>
              <a:t>Nairobi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59352"/>
            <a:ext cx="6932866" cy="384048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3146" y="39593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7,637,720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4573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038"/>
                </a:solidFill>
              </a:defRPr>
            </a:pPr>
            <a:r>
              <a:t>Eldoret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745736"/>
            <a:ext cx="6845185" cy="384048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5465" y="474573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7,541,125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83038"/>
                </a:solidFill>
              </a:defRPr>
            </a:pPr>
            <a:r>
              <a:t>Highest: Kisumu (KES 7,756,715). Lowest: Eldoret (KES 7,541,125).</a:t>
            </a:r>
          </a:p>
          <a:p>
            <a:pPr>
              <a:spcAft>
                <a:spcPts val="1400"/>
              </a:spcAft>
              <a:defRPr sz="1300">
                <a:solidFill>
                  <a:srgbClr val="283038"/>
                </a:solidFill>
              </a:defRPr>
            </a:pPr>
            <a:r>
              <a:t>Difference: KES 215,590; interpret cautiously because the dataset is synthetic.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7. Top Products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Top 10 products reported by the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Cooking Oil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417320"/>
            <a:ext cx="4937760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39903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4,650,450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Coffee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56232"/>
            <a:ext cx="4425716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23196" y="18379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4,168,200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Detergent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295144"/>
            <a:ext cx="3652527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0007" y="22768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3,440,000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3405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Cereal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734056"/>
            <a:ext cx="3147883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45363" y="271576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2,964,720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172968"/>
            <a:ext cx="2642433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9913" y="3154679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2,488,680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Beans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611880"/>
            <a:ext cx="2502490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99970" y="359359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2,356,880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5079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Sugar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4050791"/>
            <a:ext cx="2252504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49984" y="403250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2,121,440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8970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Wheat Flour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489704"/>
            <a:ext cx="2243755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41235" y="447141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2,113,200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286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Toothpaste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4928616"/>
            <a:ext cx="2209354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06834" y="491032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2,080,800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6752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</a:defRPr>
            </a:pPr>
            <a:r>
              <a:t>Pasta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367528"/>
            <a:ext cx="1931061" cy="237744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28541" y="53492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</a:defRPr>
            </a:pPr>
            <a:r>
              <a:t>1,818,700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011680"/>
            <a:ext cx="2926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E58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283038"/>
                </a:solidFill>
              </a:defRPr>
            </a:pPr>
            <a:r>
              <a:t>Cooking Oil leads the listed products at KES 4,650,450, followed by Coffee at KES 4,168,200.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E58"/>
                </a:solidFill>
              </a:defRPr>
            </a:pPr>
            <a:r>
              <a:t>8. Recommendations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dirty="0"/>
              <a:t>Monitor monthly revenue and compare branch performance over time.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dirty="0"/>
              <a:t>Use product-level results to guide further inventory and promotion analysis, not as a standalone stocking rule.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dirty="0"/>
              <a:t>Validate patterns with real sales data before making budget or operational decisions.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dirty="0"/>
              <a:t>Limitation: data is synthetic; observed branch and product differences are illustrative, not real-world evidence.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dirty="0"/>
              <a:t>Statistical test: report the actual t-statistic, p-value, and interpretation from 03_analysis.ipynb before final submission.</a:t>
            </a:r>
            <a:endParaRPr lang="en-GB" dirty="0">
              <a:solidFill>
                <a:srgbClr val="283038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r>
              <a:rPr lang="en-GB" dirty="0"/>
              <a:t>Statistical test: </a:t>
            </a:r>
            <a:r>
              <a:rPr lang="en-KE" dirty="0">
                <a:solidFill>
                  <a:srgbClr val="283038"/>
                </a:solidFill>
              </a:rPr>
              <a:t>A Welch independent two-sample t-test comparing Nairobi and Mombasa produced a t-statistic of 0.2944 and a p-value of 0.7685. Since the p-value exceeds 0.05, we failed to reject the null hypothesis. The test found insufficient evidence of a difference in average transaction values between the two branches in this synthetic dataset.</a:t>
            </a:r>
          </a:p>
          <a:p>
            <a:pPr>
              <a:spcAft>
                <a:spcPts val="1400"/>
              </a:spcAft>
              <a:defRPr sz="1800">
                <a:solidFill>
                  <a:srgbClr val="283038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E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241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This project demonstrates an end-to-end analytics workflow: cleaning data, querying with SQL, exploring sales patterns, and communicating results.</a:t>
            </a:r>
          </a:p>
          <a:p>
            <a:pPr>
              <a:spcBef>
                <a:spcPts val="2000"/>
              </a:spcBef>
              <a:defRPr sz="2000">
                <a:solidFill>
                  <a:srgbClr val="DCE6EE"/>
                </a:solidFill>
              </a:defRPr>
            </a:pPr>
            <a:r>
              <a:t>The most important next step is to validate any business recommendations using real operational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Power Learn Project | Data Analytics Capstone •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677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Sharon Naisoi</cp:lastModifiedBy>
  <cp:revision>3</cp:revision>
  <dcterms:created xsi:type="dcterms:W3CDTF">2013-01-27T09:14:16Z</dcterms:created>
  <dcterms:modified xsi:type="dcterms:W3CDTF">2026-10-24T15:52:21Z</dcterms:modified>
  <cp:category/>
</cp:coreProperties>
</file>